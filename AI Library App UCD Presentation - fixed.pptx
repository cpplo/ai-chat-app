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2e2950e634e19" /><Relationship Type="http://schemas.openxmlformats.org/officeDocument/2006/relationships/extended-properties" Target="/docProps/app.xml" Id="Raf009b13ea5f4ebf" /><Relationship Type="http://schemas.openxmlformats.org/officeDocument/2006/relationships/officeDocument" Target="/ppt/presentation.xml" Id="R3f1c39c52367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b1b641a3a43ec"/>
  </p:sldMasterIdLst>
  <p:notesMasterIdLst>
    <p:notesMasterId xmlns:r="http://schemas.openxmlformats.org/officeDocument/2006/relationships" r:id="Rcc0a7d2624a644e2"/>
  </p:notesMasterIdLst>
  <p:sldIdLst>
    <p:sldId xmlns:r="http://schemas.openxmlformats.org/officeDocument/2006/relationships" id="256" r:id="R45e0f1fbfa594bc8"/>
    <p:sldId xmlns:r="http://schemas.openxmlformats.org/officeDocument/2006/relationships" id="257" r:id="R56766606c9b54fee"/>
    <p:sldId xmlns:r="http://schemas.openxmlformats.org/officeDocument/2006/relationships" id="258" r:id="R87e8d8c5bc1745ab"/>
    <p:sldId xmlns:r="http://schemas.openxmlformats.org/officeDocument/2006/relationships" id="259" r:id="Re656fb1dfd3f4083"/>
    <p:sldId xmlns:r="http://schemas.openxmlformats.org/officeDocument/2006/relationships" id="260" r:id="R29e6c0351e184878"/>
    <p:sldId xmlns:r="http://schemas.openxmlformats.org/officeDocument/2006/relationships" id="261" r:id="R47cc958a24e34b97"/>
    <p:sldId xmlns:r="http://schemas.openxmlformats.org/officeDocument/2006/relationships" id="262" r:id="R1d46732644cd452f"/>
    <p:sldId xmlns:r="http://schemas.openxmlformats.org/officeDocument/2006/relationships" id="263" r:id="Ra8a62d9138684530"/>
    <p:sldId xmlns:r="http://schemas.openxmlformats.org/officeDocument/2006/relationships" id="264" r:id="R1369f1d7ed7a4b8a"/>
    <p:sldId xmlns:r="http://schemas.openxmlformats.org/officeDocument/2006/relationships" id="265" r:id="Rc74bf871b67a42bd"/>
    <p:sldId xmlns:r="http://schemas.openxmlformats.org/officeDocument/2006/relationships" id="266" r:id="Rddfdac4f8d56451d"/>
    <p:sldId xmlns:r="http://schemas.openxmlformats.org/officeDocument/2006/relationships" id="267" r:id="R251926d2176a43d5"/>
    <p:sldId xmlns:r="http://schemas.openxmlformats.org/officeDocument/2006/relationships" id="268" r:id="R17116b4a3a2b444a"/>
    <p:sldId xmlns:r="http://schemas.openxmlformats.org/officeDocument/2006/relationships" id="269" r:id="Rf977316ee5c843a6"/>
    <p:sldId xmlns:r="http://schemas.openxmlformats.org/officeDocument/2006/relationships" id="270" r:id="R2b9cd2e416c841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b1b641a3a43ec" /><Relationship Type="http://schemas.openxmlformats.org/officeDocument/2006/relationships/theme" Target="/ppt/theme/theme1.xml" Id="R4e658ad27db941ef" /><Relationship Type="http://schemas.openxmlformats.org/officeDocument/2006/relationships/notesMaster" Target="/ppt/notesMasters/notesMaster1.xml" Id="Rcc0a7d2624a644e2" /><Relationship Type="http://schemas.openxmlformats.org/officeDocument/2006/relationships/presProps" Target="/ppt/presProps.xml" Id="R8728096d20e14f36" /><Relationship Type="http://schemas.openxmlformats.org/officeDocument/2006/relationships/viewProps" Target="/ppt/viewProps.xml" Id="Rdd74a8cc3583431e" /><Relationship Type="http://schemas.openxmlformats.org/officeDocument/2006/relationships/tableStyles" Target="/ppt/tableStyles.xml" Id="Rd17e82434494432f" /><Relationship Type="http://schemas.openxmlformats.org/officeDocument/2006/relationships/slide" Target="/ppt/slides/slide1.xml" Id="R45e0f1fbfa594bc8" /><Relationship Type="http://schemas.openxmlformats.org/officeDocument/2006/relationships/slide" Target="/ppt/slides/slide2.xml" Id="R56766606c9b54fee" /><Relationship Type="http://schemas.openxmlformats.org/officeDocument/2006/relationships/slide" Target="/ppt/slides/slide3.xml" Id="R87e8d8c5bc1745ab" /><Relationship Type="http://schemas.openxmlformats.org/officeDocument/2006/relationships/slide" Target="/ppt/slides/slide4.xml" Id="Re656fb1dfd3f4083" /><Relationship Type="http://schemas.openxmlformats.org/officeDocument/2006/relationships/slide" Target="/ppt/slides/slide5.xml" Id="R29e6c0351e184878" /><Relationship Type="http://schemas.openxmlformats.org/officeDocument/2006/relationships/slide" Target="/ppt/slides/slide6.xml" Id="R47cc958a24e34b97" /><Relationship Type="http://schemas.openxmlformats.org/officeDocument/2006/relationships/slide" Target="/ppt/slides/slide7.xml" Id="R1d46732644cd452f" /><Relationship Type="http://schemas.openxmlformats.org/officeDocument/2006/relationships/slide" Target="/ppt/slides/slide8.xml" Id="Ra8a62d9138684530" /><Relationship Type="http://schemas.openxmlformats.org/officeDocument/2006/relationships/slide" Target="/ppt/slides/slide9.xml" Id="R1369f1d7ed7a4b8a" /><Relationship Type="http://schemas.openxmlformats.org/officeDocument/2006/relationships/slide" Target="/ppt/slides/slide10.xml" Id="Rc74bf871b67a42bd" /><Relationship Type="http://schemas.openxmlformats.org/officeDocument/2006/relationships/slide" Target="/ppt/slides/slide11.xml" Id="Rddfdac4f8d56451d" /><Relationship Type="http://schemas.openxmlformats.org/officeDocument/2006/relationships/slide" Target="/ppt/slides/slide12.xml" Id="R251926d2176a43d5" /><Relationship Type="http://schemas.openxmlformats.org/officeDocument/2006/relationships/slide" Target="/ppt/slides/slide13.xml" Id="R17116b4a3a2b444a" /><Relationship Type="http://schemas.openxmlformats.org/officeDocument/2006/relationships/slide" Target="/ppt/slides/slide14.xml" Id="Rf977316ee5c843a6" /><Relationship Type="http://schemas.openxmlformats.org/officeDocument/2006/relationships/slide" Target="/ppt/slides/slide15.xml" Id="R2b9cd2e416c8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e71eecb18143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30f6102d34608" /><Relationship Type="http://schemas.openxmlformats.org/officeDocument/2006/relationships/notesMaster" Target="/ppt/notesMasters/notesMaster1.xml" Id="Ra329113f4af3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98f0ddf3a41c2" /><Relationship Type="http://schemas.openxmlformats.org/officeDocument/2006/relationships/notesMaster" Target="/ppt/notesMasters/notesMaster1.xml" Id="R7b79287f9edd40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486801df34f4b" /><Relationship Type="http://schemas.openxmlformats.org/officeDocument/2006/relationships/notesMaster" Target="/ppt/notesMasters/notesMaster1.xml" Id="Rc77740cc5dcd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4717a786214278" /><Relationship Type="http://schemas.openxmlformats.org/officeDocument/2006/relationships/notesMaster" Target="/ppt/notesMasters/notesMaster1.xml" Id="R492d4bec850d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c7e9887dbf43e0" /><Relationship Type="http://schemas.openxmlformats.org/officeDocument/2006/relationships/notesMaster" Target="/ppt/notesMasters/notesMaster1.xml" Id="R60031d51d6f147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8f4c13e814f28" /><Relationship Type="http://schemas.openxmlformats.org/officeDocument/2006/relationships/notesMaster" Target="/ppt/notesMasters/notesMaster1.xml" Id="Rce62e5c6ce41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95eefae3b4e71" /><Relationship Type="http://schemas.openxmlformats.org/officeDocument/2006/relationships/notesMaster" Target="/ppt/notesMasters/notesMaster1.xml" Id="Rae57c55e8f114a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ac331820046b9" /><Relationship Type="http://schemas.openxmlformats.org/officeDocument/2006/relationships/notesMaster" Target="/ppt/notesMasters/notesMaster1.xml" Id="Rab923a05513e4b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e4823b489c4fd0" /><Relationship Type="http://schemas.openxmlformats.org/officeDocument/2006/relationships/notesMaster" Target="/ppt/notesMasters/notesMaster1.xml" Id="R284d5fdfb8f842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50ce53e4f04b34" /><Relationship Type="http://schemas.openxmlformats.org/officeDocument/2006/relationships/notesMaster" Target="/ppt/notesMasters/notesMaster1.xml" Id="R14a4f1337c0e4f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5dfe36389e420f" /><Relationship Type="http://schemas.openxmlformats.org/officeDocument/2006/relationships/notesMaster" Target="/ppt/notesMasters/notesMaster1.xml" Id="R014dbba63e3245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18f21d027a46ca" /><Relationship Type="http://schemas.openxmlformats.org/officeDocument/2006/relationships/notesMaster" Target="/ppt/notesMasters/notesMaster1.xml" Id="R139a5406a2ff46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f8c673c4ec41b8" /><Relationship Type="http://schemas.openxmlformats.org/officeDocument/2006/relationships/notesMaster" Target="/ppt/notesMasters/notesMaster1.xml" Id="Rfcddb9e57d3b4c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9a41ef27e54740" /><Relationship Type="http://schemas.openxmlformats.org/officeDocument/2006/relationships/notesMaster" Target="/ppt/notesMasters/notesMaster1.xml" Id="Rba7f1425de5b44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e8439611a640cb" /><Relationship Type="http://schemas.openxmlformats.org/officeDocument/2006/relationships/notesMaster" Target="/ppt/notesMasters/notesMaster1.xml" Id="R22c95369b04f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briefly, then explain that the presentation follows the weekly information systems process from planning to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rubric for Weeks 1-12 and presentation timing rules.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short. Emphasize that the project is not only a catalog but a digital library system with intelligent recommendation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planning reduced implementation confusion by giving the project a clear sequence and realistic feature priorities.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rubric for Weeks 1-12 and presentation timing rules.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 about the key finding: users needed help when they only knew a topic and not a specific title. Connect this directly to implementation priorities.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Beta test feedback from 13 ICT students and post-test usability observations.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slide introduces the design phase broadly, and the next slides show how different screens supported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rubric for Weeks 1-12 and presentation timing rules.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design supported implementation by making browsing and evaluation two connected steps instead of isolated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UML diagrams helped explain both user-side interactions and backend-side communication before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Spend the time on how the AI recommendation path was implemented, since that is one of the most distinctive parts of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testing confirmed the application worked end to end, but AI relevance and reliability still needed follow-up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deployment was a key implementation step because it proved the system could operate beyond local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concise. Choose one specific issue to mention in speech, such as AI explanation clarity or profile synchronization.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clearly connect usability feedback to actual improvements made in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Beta test feedback from 13 ICT students and post-test usability observations.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reflect on one success and one challenge across phases, especially around AI usability.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rubric for Weeks 1-12 and presentation timing rules.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  <a:p xmlns:a="http://schemas.openxmlformats.org/drawingml/2006/main">
            <a:r>
              <a:t>- Beta test feedback from 13 ICT students and post-test usability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course structure helped manage the project, but AI integration and deployment required more troubleshooting time than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rubric for Weeks 1-12 and presentation timing rules.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confidently and thank the audience after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Library App implementation using React, Node.js, Supabase, and Gemini API.</a:t>
            </a:r>
          </a:p>
          <a:p xmlns:a="http://schemas.openxmlformats.org/drawingml/2006/main">
            <a:r>
              <a:t>- Beta test feedback from 13 ICT students and post-test usability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2c84956c647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AC1A120-7635-44F1-9BA7-EBF7C915F4D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E24D4C-C2FC-4ECC-B46D-1C8AAC7F8CC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819862-87DD-424B-A3B6-7E5B95CEC11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8EB02E-D3C4-4E6B-BBA4-A913C5670C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7c108a7451407e" /><Relationship Type="http://schemas.openxmlformats.org/officeDocument/2006/relationships/slideLayout" Target="/ppt/slideLayouts/slideLayout2.xml" Id="R8e209c452bab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8A86B2-D389-4B36-A606-CD1DB509C5E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09c452bab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c59d985fe4d5e" /><Relationship Type="http://schemas.openxmlformats.org/officeDocument/2006/relationships/image" Target="/ppt/media/image.png" Id="R8e13c70c8693450c" /><Relationship Type="http://schemas.openxmlformats.org/officeDocument/2006/relationships/notesSlide" Target="/ppt/notesSlides/notesSlide1.xml" Id="R766d683a08fd4d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77c0c263f43e7" /><Relationship Type="http://schemas.openxmlformats.org/officeDocument/2006/relationships/image" Target="/ppt/media/image2.png" Id="R941ade705ee34407" /><Relationship Type="http://schemas.openxmlformats.org/officeDocument/2006/relationships/notesSlide" Target="/ppt/notesSlides/notesSlide2.xml" Id="R9b837ce0c764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7eef7355b40ea" /><Relationship Type="http://schemas.openxmlformats.org/officeDocument/2006/relationships/notesSlide" Target="/ppt/notesSlides/notesSlide3.xml" Id="Rde2f18ebf959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5fda2bfe34279" /><Relationship Type="http://schemas.openxmlformats.org/officeDocument/2006/relationships/image" Target="/ppt/media/image3.png" Id="R670b26bcff1042bd" /><Relationship Type="http://schemas.openxmlformats.org/officeDocument/2006/relationships/notesSlide" Target="/ppt/notesSlides/notesSlide4.xml" Id="R016186bad0fb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7eb0fc76f42e1" /><Relationship Type="http://schemas.openxmlformats.org/officeDocument/2006/relationships/image" Target="/ppt/media/image4.png" Id="Rddf4d653d83e4bfa" /><Relationship Type="http://schemas.openxmlformats.org/officeDocument/2006/relationships/notesSlide" Target="/ppt/notesSlides/notesSlide5.xml" Id="Rc9b979af745e4a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9101848ba449d" /><Relationship Type="http://schemas.openxmlformats.org/officeDocument/2006/relationships/image" Target="/ppt/media/image5.png" Id="R626faba2f8d44fa7" /><Relationship Type="http://schemas.openxmlformats.org/officeDocument/2006/relationships/notesSlide" Target="/ppt/notesSlides/notesSlide6.xml" Id="Rb7fbf9f85677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463070c0748f7" /><Relationship Type="http://schemas.openxmlformats.org/officeDocument/2006/relationships/image" Target="/ppt/media/image6.png" Id="R3bebe8328df14dfb" /><Relationship Type="http://schemas.openxmlformats.org/officeDocument/2006/relationships/notesSlide" Target="/ppt/notesSlides/notesSlide7.xml" Id="R5872c1e1947f46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ab6ac5a7644bd" /><Relationship Type="http://schemas.openxmlformats.org/officeDocument/2006/relationships/image" Target="/ppt/media/image7.png" Id="Rc18fc2fabf6a4083" /><Relationship Type="http://schemas.openxmlformats.org/officeDocument/2006/relationships/notesSlide" Target="/ppt/notesSlides/notesSlide8.xml" Id="R2139aaf0699c40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2d609ec89406e" /><Relationship Type="http://schemas.openxmlformats.org/officeDocument/2006/relationships/notesSlide" Target="/ppt/notesSlides/notesSlide9.xml" Id="Rfb7ebee26e3f4a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d0b2f995f4130" /><Relationship Type="http://schemas.openxmlformats.org/officeDocument/2006/relationships/image" Target="/ppt/media/image8.png" Id="Re6a3884bb62c4580" /><Relationship Type="http://schemas.openxmlformats.org/officeDocument/2006/relationships/notesSlide" Target="/ppt/notesSlides/notesSlide10.xml" Id="R76bdffb2fab54c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c19481ba048ca" /><Relationship Type="http://schemas.openxmlformats.org/officeDocument/2006/relationships/image" Target="/ppt/media/image9.png" Id="Rebc9c867f2a3493f" /><Relationship Type="http://schemas.openxmlformats.org/officeDocument/2006/relationships/notesSlide" Target="/ppt/notesSlides/notesSlide11.xml" Id="Re39ab15eedff45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21501bfb341c2" /><Relationship Type="http://schemas.openxmlformats.org/officeDocument/2006/relationships/notesSlide" Target="/ppt/notesSlides/notesSlide12.xml" Id="R0be4f665cc464d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515ec976648d0" /><Relationship Type="http://schemas.openxmlformats.org/officeDocument/2006/relationships/notesSlide" Target="/ppt/notesSlides/notesSlide13.xml" Id="Rc42527a4e6f941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aa20de9e940d8" /><Relationship Type="http://schemas.openxmlformats.org/officeDocument/2006/relationships/notesSlide" Target="/ppt/notesSlides/notesSlide14.xml" Id="Rf07eb0f8140548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88cfcee134b67" /><Relationship Type="http://schemas.openxmlformats.org/officeDocument/2006/relationships/image" Target="/ppt/media/image10.png" Id="Rcdbefca2cc074bfb" /><Relationship Type="http://schemas.openxmlformats.org/officeDocument/2006/relationships/notesSlide" Target="/ppt/notesSlides/notesSlide15.xml" Id="R6523a68cc8a441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3c70c8693450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B75E0-B727-4CEE-8613-DD94C74C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18C4-B4C6-47D9-BA14-8BB37A1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450A-D583-4FB2-9977-507EEC0F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AI LIBRARY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CE534-3335-49B2-BE44-DC4A307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233B"/>
                </a:solidFill>
              </a:defRPr>
            </a:pPr>
            <a:r>
              <a:rPr sz="3600" b="1">
                <a:solidFill>
                  <a:srgbClr val="16233B"/>
                </a:solidFill>
              </a:rPr>
              <a:t>Applying User-Centered Design to an AI-Supported Digital 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F78F7-DE77-418E-ADDD-E11CE192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16E"/>
                </a:solidFill>
              </a:defRPr>
            </a:pPr>
            <a:r>
              <a:rPr sz="1500" b="0">
                <a:solidFill>
                  <a:srgbClr val="40516E"/>
                </a:solidFill>
              </a:rPr>
              <a:t>A revised presentation focused on implementation, evaluation, and improvements across the full system life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E5284-63B2-4F6E-A452-9A469772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DDCC-9241-4614-90AF-5DE1D670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From analysis to deployment</a:t>
            </a:r>
          </a:p>
        </p:txBody>
      </p:sp>
    </p:spTree>
    <p:extLst>
      <p:ext uri="{BB962C8B-B14F-4D97-AF65-F5344CB8AC3E}">
        <p14:creationId xmlns:p14="http://schemas.microsoft.com/office/powerpoint/2010/main" val="1801325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de705ee3440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20FA-D3FF-4828-9BA6-C869B374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4C08-AA98-451E-A25C-704CB56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E41BC-B421-4536-87A5-DCC498C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02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F66BC-3A3C-4801-838E-2ED8FE0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C196F-CE6D-4D58-863A-DB1CFDA9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ABBA2-EEEB-4256-B596-C50A675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86ECB-DDFB-4FFC-8E54-8BB72DA5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The project combines digital library functions with AI-assisted recommendations to improve book discovery.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CDF41-1227-43B6-8484-B59B46F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51F00-5A2B-4DE4-9F88-6507C4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370CB-6DAE-40F3-9FFE-5C8D83F1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8A40F-3A40-4224-9DF0-A9DAEEC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8BC8-2644-4ED1-BF91-8EF58C29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48A92-6FCC-44DD-8CB8-E07F5EB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C1F2D-BCAA-4B64-BE8C-E9EDC28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7D03B-90F2-4805-9F8E-7F146AC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AI Library App allows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users to browse books,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search by topic or author,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open book details, save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books, and use an AI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assistant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14D60-7528-4F46-A709-C4A540E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2648C-B259-410B-941A-02EEB24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EB0D0-2F2B-42B2-82C4-1F07F5F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BB968-BB0C-439B-B6B1-618524A6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3608F-78BF-49CB-BD57-8F95C62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82217-254A-4F73-A977-1CC61A2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0E543-5E1A-402C-B158-21415C5F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Problem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EB2A2-EE03-4EAF-969E-17BBAEE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Users often struggle to find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right book quickly when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they do not know the exact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title or need help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identifying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beginner-friendly resources.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770A0-9758-42B4-853E-61AF4CE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CE6E8-2A73-4CB0-8863-DB9CE60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610F3-18E7-477E-B4C1-81CB278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73357-B432-451A-8BC1-C53035F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FE413-FF37-46A5-B4E4-92A84B6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2A472D-A205-4530-9DA9-4B67C3A5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63E6E-5031-46B7-9F32-739E9001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Users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3DFA16-73F1-43EF-9C90-45525FD4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main users are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university students who need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digital access to academic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books, references, and study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materials.</a:t>
            </a:r>
          </a:p>
        </p:txBody>
      </p:sp>
    </p:spTree>
    <p:extLst>
      <p:ext uri="{BB962C8B-B14F-4D97-AF65-F5344CB8AC3E}">
        <p14:creationId xmlns:p14="http://schemas.microsoft.com/office/powerpoint/2010/main" val="1929524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E76D8-4BCE-4A5D-BEDA-C1076F8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16966-B0A3-44AD-BD2C-7A1DC03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AFC54-78B9-4CD7-A00B-9C1E07E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C2204-92CB-4F77-865D-273A154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12802-4A10-4751-B876-8BD67C6A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Information System 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AAC6A-5B89-4222-A12D-D646C070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Planning defined the scope, timeline, and technology choices needed for smooth implementation.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55239-1FA3-4A8F-8D0F-8B00E32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D2B46-138C-4370-B70B-2049C3E0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9DE99-18F6-4E8B-8125-58EA463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0FE9-E60E-45DF-9B0F-EE87047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Intro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CE12F-8A9F-42D8-85A7-9593689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Defined project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problem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objective.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357AC-6BFE-4537-B656-4090281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045F1-39E9-4A97-BB4E-7B15792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9CEE9-764C-4057-B7DB-FBED3D10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FEF32-34B4-453E-AC8E-6FDFA9E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Set scope,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features,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timeline,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02A99-E03B-42AC-A1C2-16CEBD1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34ACC-ECF8-407C-BFDC-FA89D9C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D767A-69A1-4588-9A6F-7B76EFC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63E62-807D-425B-9FAF-5AE804B6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Survey findings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shaped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requirements.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A9C2C-1714-407E-BBB6-C1DCDADB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A4088-248D-4619-A1BF-F44FAF8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46D81-835F-41A1-88F6-25E6CB1B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E7169-484C-4D2D-BEB0-FA9E99A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Prepared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wireframes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UML models.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9FFF8-8297-4217-88E9-8B5B268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6B380-376A-4519-A787-F42E0D4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W5+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A9A06-88E0-4C39-B20E-0100784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5A272-8C19-4240-A440-49F34D0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24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Implementation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continued into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test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deployment.</a:t>
            </a:r>
          </a:p>
        </p:txBody>
      </p:sp>
    </p:spTree>
    <p:extLst>
      <p:ext uri="{BB962C8B-B14F-4D97-AF65-F5344CB8AC3E}">
        <p14:creationId xmlns:p14="http://schemas.microsoft.com/office/powerpoint/2010/main" val="593665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b26bcff1042b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0A4B1-44DC-4064-A7BC-E1E2DBD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E50A8-EEB7-46A0-91DF-671D887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3EEDC-2454-43BD-A328-2055555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04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8B8F-CD37-414D-B3D2-58EF4FA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69B3A-C781-4BB0-B35B-0608215F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ED856-A7EE-41A5-90BE-06635907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System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FDAE1-F73D-4688-9AB6-31AFD01E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Survey findings and requirement analysis showed why AI support and clear book details were necessary.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3AE9A-CACB-4E21-8F22-37C4DBAF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2BAA9-D1C0-4750-A285-27DF1EC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4D128-0D91-437F-81C2-530E02CC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33B"/>
                </a:solidFill>
              </a:defRPr>
            </a:pPr>
            <a:r>
              <a:rPr sz="2550" b="1">
                <a:solidFill>
                  <a:srgbClr val="16233B"/>
                </a:solidFill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8C4A5-34C3-47BD-9D32-0A1DF00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16E"/>
                </a:solidFill>
              </a:defRPr>
            </a:pPr>
            <a:r>
              <a:rPr sz="1200" b="0">
                <a:solidFill>
                  <a:srgbClr val="40516E"/>
                </a:solidFill>
              </a:rPr>
              <a:t>Beta-test participants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D6EE2-B617-419F-82AD-19608964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19F"/>
                </a:solidFill>
              </a:defRPr>
            </a:pPr>
            <a:r>
              <a:rPr sz="750" b="0">
                <a:solidFill>
                  <a:srgbClr val="70819F"/>
                </a:solidFill>
              </a:rPr>
              <a:t>ICT 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26D41-9177-4CC7-A0A2-92706A7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A4E57-13E7-4EE6-952B-9AB1D9C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96529-726A-46E8-9EED-A80FD87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33B"/>
                </a:solidFill>
              </a:defRPr>
            </a:pPr>
            <a:r>
              <a:rPr sz="2550" b="1">
                <a:solidFill>
                  <a:srgbClr val="16233B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FF322-B579-4244-BD57-FD40995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16E"/>
                </a:solidFill>
              </a:defRPr>
            </a:pPr>
            <a:r>
              <a:rPr sz="1200" b="0">
                <a:solidFill>
                  <a:srgbClr val="40516E"/>
                </a:solidFill>
              </a:rPr>
              <a:t>Core system functions identified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BCF05-72C1-4673-AF0D-82105AC1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19F"/>
                </a:solidFill>
              </a:defRPr>
            </a:pPr>
            <a:r>
              <a:rPr sz="750" b="0">
                <a:solidFill>
                  <a:srgbClr val="70819F"/>
                </a:solidFill>
              </a:rPr>
              <a:t>Login, library, detail, save, profile, AI, activity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B0F0A-8B9E-4053-9782-E150C26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43415-A504-4903-B985-3CA30E3B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E2B83-CDEA-47A0-801C-2FF0B81B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33B"/>
                </a:solidFill>
              </a:defRPr>
            </a:pPr>
            <a:r>
              <a:rPr sz="2550" b="1">
                <a:solidFill>
                  <a:srgbClr val="16233B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D5998-C94B-49A8-9E55-50D3F6B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16E"/>
                </a:solidFill>
              </a:defRPr>
            </a:pPr>
            <a:r>
              <a:rPr sz="1200" b="0">
                <a:solidFill>
                  <a:srgbClr val="40516E"/>
                </a:solidFill>
              </a:rPr>
              <a:t>Major problem areas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94E8-EBAC-40C6-812D-5196954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19F"/>
                </a:solidFill>
              </a:defRPr>
            </a:pPr>
            <a:r>
              <a:rPr sz="750" b="0">
                <a:solidFill>
                  <a:srgbClr val="70819F"/>
                </a:solidFill>
              </a:rPr>
              <a:t>Book selection and recommendation clarity</a:t>
            </a:r>
          </a:p>
        </p:txBody>
      </p:sp>
    </p:spTree>
    <p:extLst>
      <p:ext uri="{BB962C8B-B14F-4D97-AF65-F5344CB8AC3E}">
        <p14:creationId xmlns:p14="http://schemas.microsoft.com/office/powerpoint/2010/main" val="1953481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4d653d83e4bf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6A5D1-51DD-46F5-BDC2-BC99AF0F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0C5B6-FDEC-4D6B-B62D-A540544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82352-AD55-4B05-842B-0769743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891EB-7391-4AFC-A6AC-5BE301F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B0DF0-6FB8-4141-88C0-E997618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681AB-BA60-4DA2-90DC-7BC03657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Information System Design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C81F0-E39A-4E1F-93D6-866F3E48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Wireframes and layout planning translated user needs into structured screens before development began.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62AC5-419F-4888-B7EA-90864FE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96796-BE27-40B4-9CAF-56748B8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B84E3-F739-4C87-ADCE-5D908DC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E7C3B-E1F6-4B91-AC1C-FE36FB14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92C0D-2D35-414E-A531-6A7079A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64409-15C4-407E-BF0D-77D78F9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A01E8-8554-42A5-969A-399D1D9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Wireframes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5C1AF-D555-42E1-B604-0B0E0D19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Wireframes were created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Library page, Book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Detail page, AI Assistant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page, and Profile page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before implementation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started.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AE966-4942-441A-A5A6-034EB8C8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5349B-4A8A-4FA9-B61B-3E6DABB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8FC0-D74C-4092-993D-C2ED868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5FB5A-76B4-4B24-8151-31CC7F36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1B755-9768-4DCE-95E9-40BA1EAD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AD9D0-2E27-4A70-86D6-FCE6585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D9777-69CE-4DD5-9C00-62D2498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Design Goals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A9F91-64DC-4CDE-85DF-DBB18DB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design focused on clear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navigation, readable content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hierarchy, and a connected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user flow across the app.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AFDBB-1EDD-47C8-8AF2-3CF674F9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11D18-F7C0-4CF7-AEC0-C86AB77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0A7AA-A189-474E-8682-4CB4F9B7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E2739-4493-4921-9BF1-BD6F548F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001B83-7FD0-4EB3-8ADB-580913E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24C118-6CDC-479C-97C9-0AF44FA9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30B5B-2108-4C2E-B4CF-15DCCE6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Implementation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1969F-522C-4428-97E6-15E0681B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Early layout planning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reduced confusion during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coding and made later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testing more consistent.</a:t>
            </a:r>
          </a:p>
        </p:txBody>
      </p:sp>
    </p:spTree>
    <p:extLst>
      <p:ext uri="{BB962C8B-B14F-4D97-AF65-F5344CB8AC3E}">
        <p14:creationId xmlns:p14="http://schemas.microsoft.com/office/powerpoint/2010/main" val="28584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faba2f8d44fa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FF079-D59C-4463-9C69-9D9ABF9F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73AE-C412-45D0-856D-CD26C174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D355-B32E-4F9A-A882-5A3308F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06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315E3-F1EC-4516-BBDA-7F2BB54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512A-2E9B-41F9-BC26-D43EBD2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A33EA-6A06-4D74-8D87-282B0CF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Design Outputs: Library and Book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159CC-022B-40C6-96A5-8C322C6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These pages were designed to support browsing, filtering, book evaluation, and continued discovery.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C3D6-0C7D-454F-A2D3-385CA87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728CB-7909-4238-8435-6C66C94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3FC88-67A9-48F1-91E1-A67BEDAB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F3308-4627-4C32-9527-173673CE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77F54-B80B-41CE-A75F-61F06B4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A10C1-5C93-45BB-A5AF-4B5E789C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7B25F-8D4A-4AAF-890E-9D6F559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Library Page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6685D-BE0D-41BD-9636-7B7702CA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Library page was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designed as the main entry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point with search, category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filters, sorting, and save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84447-FF48-4D28-8003-5E10043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66BBF-84F6-45D4-B05B-66E41E2C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A0A2B-E959-4E7A-B542-D5184BFF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90202-E51A-4CAB-9987-4EDC2F8C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F7D1C-A374-4192-B469-BEA9093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281DC-B9CD-478A-AB5F-EFF6E7D7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5DA95-BB1D-4BE2-A71F-F14D11D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Book Detail Page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A24D7-A704-476E-A22D-01625C2B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Book Detail page was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designed to show complete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metadata, file availability,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and stronger decision-making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support.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DA84E-89B3-4C2D-AC06-B6C9848E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B44D5-DF9D-4F98-A7D2-17E453D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C4086-782D-4D77-BF81-A952B592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20D49-D38D-493A-BA77-417663FA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5865F-8BE6-4164-A09D-65A57BF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BD15-EA0B-42E0-A9B4-C642D0F6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FB5D2-7040-4E90-9D25-D669AF31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Related Books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182D07-B4AC-482C-83EE-460BA51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Related books were added to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help users continue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exploring once they found a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relevant title.</a:t>
            </a:r>
          </a:p>
        </p:txBody>
      </p:sp>
    </p:spTree>
    <p:extLst>
      <p:ext uri="{BB962C8B-B14F-4D97-AF65-F5344CB8AC3E}">
        <p14:creationId xmlns:p14="http://schemas.microsoft.com/office/powerpoint/2010/main" val="998034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be8328df14df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46B8-4C29-4B6A-BB47-4B1B62EA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E98FE-930A-447C-80DB-2EDC2FB0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6C543-444F-4159-9964-A13A7ABE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07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7D46-CEB7-41A0-B824-B905FB73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876FF-B581-416C-A168-D9CB8D1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8810B-FE4A-4A01-8377-391A646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Design Outputs: AI, Profile, and UML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21FEB-BC4B-4D02-8BB0-5FC841D6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The AI assistant, profile features, and system diagrams clarified interaction, workflow, and architecture.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20D89-6548-4E63-9D86-EC79B62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65E22-494C-48B9-95DA-EF0DF13A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D1139-8302-4967-AC67-0345955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EBC54-73AD-4F6F-8A55-D6F084F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B7821-F9BC-4BB2-A7CC-B9BA14C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4603E-458D-42CE-BC74-20F1C30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DFB27-0D1B-48CF-9C65-AA7BDC07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AI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1C314-7C69-42D6-B230-2A07EB5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AI page was designed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natural-language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 queries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grounded in the real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catalog.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043ED-59A9-47CE-AB98-B64C23C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25171-3D6E-4C46-8BD7-4750E9A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5AC2E-0D8F-4508-892A-F48BC49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80EE0-C61C-4EB3-BDD5-7EE62E1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ECAC0-BA37-4494-ADA4-B9EA610B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015ED-34B6-49E4-BA5D-A7F508F2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9C6B8-FCDC-413C-A867-08E127B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707EC-ED7B-417C-95B0-6B7C2E71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Profile page was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designed to show saved books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and recent activity so users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could return to previous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53DAB-A4DC-48AD-847C-02F4A2AC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DAB50-65E2-4C8B-9B55-AC9D4F6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193BAD-CBED-416F-9B15-5F3D4C98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EF067-3AF7-41A2-80DB-7434B8FF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8F113-F453-4F31-93AC-15286C4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C0D65-0E1C-4031-BBEB-320D8C8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5CF91-7400-4946-A0A7-E6741140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UML Models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06B1A-33D8-45DE-BF44-E6C1730B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Use case and activity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diagrams supported analysis,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while sequence and component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diagrams supported system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design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93213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fc2fabf6a408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2B4D6-F44C-46EC-89A6-F2F553C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9710E-449E-4697-95FD-510A7A5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51FB-FB2A-4733-B6FB-C013C46F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08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9EE75-8E42-4972-B72E-F7C7DFD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4E389-EF68-4338-B573-D3A04830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22B8-D0D3-449F-8008-54C963E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Information Systems Development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B986D-5A51-4DBA-B9E9-11EBAD7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Development converted the design into a working full-stack application with AI-assisted recommendation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85E2F-2BAD-43BE-9F73-33105B5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6858F-4141-4616-B3F0-BC993C76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F4AF6-B67A-49ED-8871-14F3140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6BDC2-99A6-433D-A851-343DBAF0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454EF-6D78-4AFC-BCA6-204F6D9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BBEA8-B35E-4099-8146-61EF4FD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78F13-37B6-4934-87FF-9F14746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80676-1AF0-4622-B560-3D7D157A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frontend was developed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with React, TypeScript, and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Vite to provide routing,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theming, and responsive page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layouts.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4FFD1-2422-4B51-83A5-F23D3C8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4AD8C-835F-4383-B136-7918E83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67D82-4EEA-43BD-993A-61042C4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65FB6-8C09-4D15-934D-7293A61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94541-E74F-43A4-AA2F-51288D7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07034-1DC1-4F3C-944B-BA934BC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4556D-7171-44E6-A7BE-6BFB039F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4EF1C-84F5-4352-B36A-7DBEBEAE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backend used Node.js and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Express to process AI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requests, retrieve books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from Supabase, and send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context to Gemini.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B07A7-DA53-472E-8E38-55534C7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B0019-FBF3-4AA9-BB49-8FCD0101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9A426-1B8C-47A5-9921-FE33BE9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65EE32-F779-4F8B-8475-68A92A8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89B57-3718-45FF-A71E-B7D8ED6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2435B-322F-4CBF-94E5-90F09081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EF957-8FCF-4F9B-86E5-199AA3E3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Challenge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C06D2B-F3A2-40D2-94C2-7DB12FF4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 key challenge was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preventing the AI from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acting like a general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chatbot. This was solved by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grounding responses in real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catalog data.</a:t>
            </a:r>
          </a:p>
        </p:txBody>
      </p:sp>
    </p:spTree>
    <p:extLst>
      <p:ext uri="{BB962C8B-B14F-4D97-AF65-F5344CB8AC3E}">
        <p14:creationId xmlns:p14="http://schemas.microsoft.com/office/powerpoint/2010/main" val="18671769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6155A-E18D-4D44-8348-984EC5C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3560E-7BFE-455B-8D72-3331D552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09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DB4E6-C7FB-44F2-BA48-4D96633D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24419-164B-471E-B2DE-F2C542B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E4F3F-72CF-47E2-8B6E-A96167B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Testing in Information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F3815-2507-40F2-829D-15F66B2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Functional testing verified whether the main user flows were stable enough for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DE465-EADC-46B4-BEAF-8F06A3D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2F5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7211F-1663-4AE6-9198-36F1C67C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331C-8DDD-4D56-87B8-3DCEE6A2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552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2F5F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B8B32-FCFC-45D5-88E6-6840201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525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Expected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15794-6FF5-43C7-A483-C77275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2F5F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AEB13-91B5-40CA-BCA7-769C5D3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CF099-2F10-4B96-A7DF-6B53399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AAC91-5E72-44C4-82B9-279A2CA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Login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7668A-81E1-4F4D-9552-41B28F4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9BC1-FB3D-4B68-AAB1-8FA9ECE1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User can sign in successfully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27B88-A370-4B8B-95D0-B46341A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5DAF3-1C78-41CA-B67F-A349123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33B"/>
                </a:solidFill>
              </a:defRPr>
            </a:pPr>
            <a:r>
              <a:rPr sz="975" b="1">
                <a:solidFill>
                  <a:srgbClr val="16233B"/>
                </a:solidFill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41F9B-4063-4C64-8932-ED0F7C7A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94898-EB6D-4EC1-8DBB-D72E962B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Library Browsing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779A0-E097-4491-8F09-9F2FD1A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529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928E0-3457-4756-9E01-A783428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481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Books load from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6C899-5757-4262-A07D-9FB48870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52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5673D-9200-43E7-95A2-70D50B5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33B"/>
                </a:solidFill>
              </a:defRPr>
            </a:pPr>
            <a:r>
              <a:rPr sz="975" b="1">
                <a:solidFill>
                  <a:srgbClr val="16233B"/>
                </a:solidFill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892504-1DCC-430C-B68C-7E8600A9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0CD1C-5EE4-4B2F-8BE6-6235A4C1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Search and Filter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A701E0-7B32-46E0-BBFD-D8AFB489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01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D6F6E-81F4-4828-B187-67326D03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User narrows results correctly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83E07-0B7A-42F1-8D93-8A58A216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1B0EA-FAD4-47EF-864E-26CB3D8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33B"/>
                </a:solidFill>
              </a:defRPr>
            </a:pPr>
            <a:r>
              <a:rPr sz="975" b="1">
                <a:solidFill>
                  <a:srgbClr val="16233B"/>
                </a:solidFill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2979F-39DA-4A7C-8857-BC381588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75FA9-1F95-495E-BBC9-C511780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Book Detail Page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6D33AB-87C3-4D95-9AE8-7397192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52C070-C5F7-423D-9E3A-39E46CE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625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Full book details are displayed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DE9F4-8D1A-418A-9FBB-FE39603E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2F6C12-CD05-4550-82EE-D5A80FC7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625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33B"/>
                </a:solidFill>
              </a:defRPr>
            </a:pPr>
            <a:r>
              <a:rPr sz="975" b="1">
                <a:solidFill>
                  <a:srgbClr val="16233B"/>
                </a:solidFill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A9EA12-79E4-49EF-9AAD-489AB55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271C5F-D5F5-4916-8E5E-C2F50B3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Save Book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A6FB0D-284D-49F7-8290-C186B1D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245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93BEE-7330-4B79-91A0-FE24AE2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197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Selected book is saved to profile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62DE82-1F33-4076-872E-E8EA7F96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245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D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098ECE-43BF-4ACF-87A8-1131980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33B"/>
                </a:solidFill>
              </a:defRPr>
            </a:pPr>
            <a:r>
              <a:rPr sz="975" b="1">
                <a:solidFill>
                  <a:srgbClr val="16233B"/>
                </a:solidFill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791968-D189-4837-9DA7-90AE3A3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73A5A3-1D52-475C-92FA-CFFF402B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769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AI Assistant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0213F1-1EC8-4891-AA40-53A11F2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817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FD03A7-0870-4C5F-9764-AF4B2B75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529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33B"/>
                </a:solidFill>
              </a:defRPr>
            </a:pPr>
            <a:r>
              <a:rPr sz="900" b="0">
                <a:solidFill>
                  <a:srgbClr val="16233B"/>
                </a:solidFill>
              </a:rPr>
              <a:t>Returns recommendation response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73B083-B0DF-4AFA-9786-F346B65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981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233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170625-C5D7-4365-A764-14E9073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769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7AE6"/>
                </a:solidFill>
              </a:defRPr>
            </a:pPr>
            <a:r>
              <a:rPr sz="975" b="1">
                <a:solidFill>
                  <a:srgbClr val="9B7AE6"/>
                </a:solidFill>
              </a:rPr>
              <a:t>Partial Pass</a:t>
            </a:r>
          </a:p>
        </p:txBody>
      </p:sp>
    </p:spTree>
    <p:extLst>
      <p:ext uri="{BB962C8B-B14F-4D97-AF65-F5344CB8AC3E}">
        <p14:creationId xmlns:p14="http://schemas.microsoft.com/office/powerpoint/2010/main" val="1573445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3884bb62c458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C3572-8F55-4237-8964-89B738C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FD30-0215-4816-9E2D-89FDBE9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A2DD9-A803-417B-992A-6906FBF0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10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B95AE-F127-4AF5-83D9-1477CE3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88652-34B2-472D-B606-D2B99C2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2E789-6CB0-46CC-9181-8ABF10E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System 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CF146-E5CF-40E5-BCAA-A3EA2062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Deployment moved the project from a local build to a usable online system with live configuration.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31A03-CAE0-44C3-9310-CE7E470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C6EE-0132-47E1-9331-7B68BDD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4C5F6-9EBF-4BCE-8B53-DF63B3E8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D5C62-929C-45A0-96F0-2BEA4FF0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FFD47-13FC-4A97-83A0-8F4D175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2A230-1519-467F-8992-4D3C0F9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C1A6-CC49-4966-BA1A-54E461D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0ADD3-958D-4C44-9A46-398EEEB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frontend was prepared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for deployment with Vercel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so the interface could be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accessed outside the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development environment.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B0023-3C32-4F34-8FD0-DD3F3F4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68700-D805-4882-A3ED-106D1BA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FE5F3-5678-4942-871C-A7CB368E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82A87-84E1-4B12-9F5F-01ABFF27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FC50A-26E7-4F3D-A0E8-B739A0AB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A6DB6-C16F-402B-9F6C-992BC88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7D989-4472-403E-A79B-E173AF1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816E1-90F2-4412-A4C5-46F9D55E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backend was prepared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Render while Supabase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remained responsible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authentication and database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services.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EC4FE-0D41-4264-BC25-3F7A9EA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4CD13-B668-477C-8760-1EC61E1F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7D36D-650C-4882-AB4D-08496D7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4D521-FD45-4686-A6D2-A35BC4E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433EA-AF47-4157-A918-8340D17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2C1CF-31CF-4731-B83A-85FAB8FA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A01C72-1390-4919-A50B-D082A06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Challenge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7989FB-CD27-48DF-86C5-4597DDE4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main challenge was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configuring environment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variables correctly for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Supabase and Gemini API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connections.</a:t>
            </a:r>
          </a:p>
        </p:txBody>
      </p:sp>
    </p:spTree>
    <p:extLst>
      <p:ext uri="{BB962C8B-B14F-4D97-AF65-F5344CB8AC3E}">
        <p14:creationId xmlns:p14="http://schemas.microsoft.com/office/powerpoint/2010/main" val="1193310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9c867f2a3493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7948C-59C6-4E38-8FAE-9352FF9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3F36D-3E67-476D-BF11-45D0026F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24322-06D7-4180-BF9E-940796CC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11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87135-CA28-4520-8333-C1921CF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5F218-F558-4AAB-AB04-2921A45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8D038-8C0D-4B2E-8365-E363630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Maintenance and Troubleshooting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27617-90B5-412B-97DA-CE021DD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Post-implementation maintenance improved clarity, reliability, and consistency across the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09222-6067-448E-98CD-5A519294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8AE74-7207-4579-8A9A-82BF838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D6A6D-FBF7-4DD3-A536-ADF2D74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72EF1-45B2-446F-8183-3E26781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A497B-0EF5-43DE-97FD-1C9C5D2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C0DDE-50A3-46A4-B005-5F79E297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B8897-3018-4461-90AD-56906715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AI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EFA12-BA1C-4799-9623-E5F622E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 logic and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prompt structure were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refined so responses became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more focused and easier to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3D917-E6FA-4E79-93F7-0590A852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C5388-6506-4EF8-905B-5FB123E7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FE5DD-7E83-4855-A272-27681C7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2F36C-B98E-49DB-8C5A-89BF481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1E730-B141-4186-94A2-7B19CC4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74472-44C9-4131-83DE-96BA367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3ED76-FD22-41EE-AF81-E5ECA11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User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E1DF0-9AC5-41E8-AA6E-E6537DC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Saved books and recent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activity were improved so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system behaved more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consistently across Library,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Profile, and Detail flows.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79430-1651-4FFE-80BF-E587C19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982ED-CDD2-47FF-A5E1-FCF30F17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9E430-0D2F-429D-B12B-BDEC123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ED4980-5095-40B5-A961-57101D46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0DF95-E4BD-496A-B47C-24177FAD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2D9BC-F646-45B4-8068-7597D8CB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21991-C2B8-4174-973F-20D3E85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UI Stability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54E3C-76EC-4EFD-97EE-84459541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Theme behavior, chat input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behavior, and page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consistency were adjusted to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create a smoother user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experience.</a:t>
            </a:r>
          </a:p>
        </p:txBody>
      </p:sp>
    </p:spTree>
    <p:extLst>
      <p:ext uri="{BB962C8B-B14F-4D97-AF65-F5344CB8AC3E}">
        <p14:creationId xmlns:p14="http://schemas.microsoft.com/office/powerpoint/2010/main" val="5866868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710E-4754-4567-93AC-68B7600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C7B95-0E93-4ACF-9AF1-B38D522B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12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219B9-5565-4A12-97FC-C2F37BB1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B6E4A-B042-4E10-8FAB-C668D873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24C7-C06B-40D8-9E1A-2FD0F865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Usability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B233F-C552-4818-9034-075A1E8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Usability testing identified the AI assistant and Book Detail Page as the main areas needing improvement.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88F55-8FA9-42A5-B057-B20122F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5334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462EA-71ED-470B-AC8E-0962CCF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33B"/>
                </a:solidFill>
              </a:defRPr>
            </a:pPr>
            <a:r>
              <a:rPr sz="1125" b="1">
                <a:solidFill>
                  <a:srgbClr val="16233B"/>
                </a:solidFill>
              </a:rPr>
              <a:t>AI Assistant Issues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33020-4750-478C-979E-643B4E6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3EAAD-04FF-4E2B-9F27-A12B8F9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C866B-4E62-4085-A2D4-5BF3DFB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67150"/>
            <a:ext cx="609600" cy="1257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B4147-5ED6-445E-AA96-F8074E95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385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EBFB4-51DB-45C5-98D4-7B15F6C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38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D4BC0-8933-4D61-AE4E-A74421E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609600" cy="6286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F3BF4-9246-4DC5-B51F-D78C3E16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6720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D23B3-FE83-4BCB-B281-4DAE323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238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98656-B4EA-4E39-B055-536C3A5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86250"/>
            <a:ext cx="609600" cy="838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FDE83-5DC6-4A55-9F41-C57E2544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576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233B"/>
                </a:solidFill>
              </a:defRPr>
            </a:pPr>
            <a:r>
              <a:rPr sz="900" b="1">
                <a:solidFill>
                  <a:srgbClr val="16233B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EC5A4-A125-4769-A98D-2F03D1D5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238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Response</a:t>
            </a:r>
          </a:p>
          <a:p xmlns:a="http://schemas.openxmlformats.org/drawingml/2006/main">
            <a:pPr algn="ctr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B1FEC-A5C4-4543-861E-9577BCC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476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45ED1-49FB-48D4-B204-59CADA5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54FD6-3F86-4806-B583-5146C12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70E48-4667-4BE8-9D1E-179805B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433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A6FB7-097A-499D-B450-D2E136D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5E2D4-7322-44F1-A68A-DC05D6B6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147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09505-5ABD-4614-91EE-95792413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3448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Implementation Improvement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C4AA9-DCB1-480C-A0E1-41975E19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4019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feedback led to stronger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 ranking, simpler AI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language, and clearer Book Detail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presentation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17184762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0C464-4567-490B-975F-6F55AD1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25A1C-4D8A-4762-818A-689A3FF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EE3D3-8F41-48C5-B206-910B81F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C6585-497C-45F6-B9BF-5AF9009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6ECCE-F1D2-4CBD-94B4-EDFA617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Applying User-Centered Design Across Phases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3242D-DD03-4E91-B632-31EBDDD3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User-centered design guided the project from early planning through post-test improvement.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34BB0-F96C-4F3F-9580-0407EE6D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F4D8B-5EC8-4916-8A0E-C36D03C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D0"/>
                </a:solidFill>
              </a:defRPr>
            </a:pPr>
            <a:r>
              <a:rPr sz="1200" b="1">
                <a:solidFill>
                  <a:srgbClr val="2F5FD0"/>
                </a:solidFill>
              </a:rPr>
              <a:t>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75E46-221E-49FD-997A-7E5A812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Set direction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and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86BEA-ACAF-4C1C-B962-C5308FC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3E002-2F46-4C73-B17E-9E196D2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10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D0F1A-3AB0-489D-BBB9-538C9E67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4767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8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71243-1DDC-4F75-939E-0615573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101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85E"/>
                </a:solidFill>
              </a:defRPr>
            </a:pPr>
            <a:r>
              <a:rPr sz="1200" b="1">
                <a:solidFill>
                  <a:srgbClr val="F4B85E"/>
                </a:solidFill>
              </a:rPr>
              <a:t>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FD214-A090-4377-BE3E-0139DE3D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577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Identified user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needs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57777-7132-4D23-8B6A-C8C5CC0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100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7D220-BCA1-4D08-9D9A-196B388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F6D03-B03B-4DDA-88B7-4787F19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7A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A9257-9D00-4146-9BA3-15D9AA91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7AE6"/>
                </a:solidFill>
              </a:defRPr>
            </a:pPr>
            <a:r>
              <a:rPr sz="1200" b="1">
                <a:solidFill>
                  <a:srgbClr val="9B7AE6"/>
                </a:solidFill>
              </a:rPr>
              <a:t>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616F2-CBDA-4028-B377-357DF7A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Prepared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structure and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wireframes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C88E1-5497-4579-8CFC-845C435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290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411A4-39F9-4A8E-89D5-019417F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10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8A952-E57D-45A3-9C63-86C534E8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767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B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30B3E-3F20-4125-B3FD-740A4DD4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101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B7FF"/>
                </a:solidFill>
              </a:defRPr>
            </a:pPr>
            <a:r>
              <a:rPr sz="1200" b="1">
                <a:solidFill>
                  <a:srgbClr val="6AB7FF"/>
                </a:solidFill>
              </a:rPr>
              <a:t>Development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C72D9-C36E-4FF2-AF9D-2E17CD0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577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Built the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working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C8DFE-3355-47C4-87AD-CCFC55BE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100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EE39C-328C-4DC6-9FC2-DE8BA93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741C0-C328-4633-87EB-8C555542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FCB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1BD02-23B4-41BA-87AD-5A976E06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CB81"/>
                </a:solidFill>
              </a:defRPr>
            </a:pPr>
            <a:r>
              <a:rPr sz="1200" b="1">
                <a:solidFill>
                  <a:srgbClr val="8FCB81"/>
                </a:solidFill>
              </a:rPr>
              <a:t>Testing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35DFF-F737-4276-82D9-041AC44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Verified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functionality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DA8CF2-AB0F-4B90-9240-8F4C3E0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F83F4-83BB-4446-80C2-BA9411A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10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FCF43-80F8-417A-A443-879FC39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767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78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6468F-D15D-403D-A54C-14D9612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101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78E8"/>
                </a:solidFill>
              </a:defRPr>
            </a:pPr>
            <a:r>
              <a:rPr sz="1200" b="1">
                <a:solidFill>
                  <a:srgbClr val="8E78E8"/>
                </a:solidFill>
              </a:rPr>
              <a:t>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6F7C3-D42E-4CDD-AA00-DB22FE0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577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Guided</a:t>
            </a:r>
          </a:p>
          <a:p xmlns:a="http://schemas.openxmlformats.org/drawingml/2006/main">
            <a:pPr algn="l">
              <a:defRPr sz="750" b="0">
                <a:solidFill>
                  <a:srgbClr val="40516E"/>
                </a:solidFill>
              </a:defRPr>
            </a:pPr>
            <a:r>
              <a:rPr sz="750" b="0">
                <a:solidFill>
                  <a:srgbClr val="40516E"/>
                </a:solidFill>
              </a:rPr>
              <a:t>improvements</a:t>
            </a:r>
          </a:p>
        </p:txBody>
      </p:sp>
    </p:spTree>
    <p:extLst>
      <p:ext uri="{BB962C8B-B14F-4D97-AF65-F5344CB8AC3E}">
        <p14:creationId xmlns:p14="http://schemas.microsoft.com/office/powerpoint/2010/main" val="16762097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A2D9A-07F4-4FC3-B7D4-C43A590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51711-A6A8-4421-BDFC-B75A0E68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14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775E5-3806-40ED-B010-A49410B5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06585-123E-4BF5-8A02-9D994B5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A385B-FF64-42BF-B717-C6F34640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Project Management Information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49744-D8C9-4717-B69B-6F533826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The project was managed through the course-week structure, which supported steady implementation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0BD8A-9847-4757-B495-305BC6C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E0C77-97C0-437B-B63F-CCBC4566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8FA50-057D-47DD-BD37-4B81EF4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8BFAC-00CA-4BCB-AE29-76D8427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07C9C-D509-44D7-A838-C64B02B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Defined scope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and selected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technology.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DD33D-269A-47F9-B6A9-C43D2D8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E667E-3D18-415F-898C-40EE713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W3-4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D7250-C9DF-4A66-82C6-1F920B79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Analyze &amp;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0F016-72FA-4D75-9534-0B22789A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Prepared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requirements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design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987F5-7615-4AA7-9CFD-A5DEFD6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24DA5-D541-4212-AB0F-86433A8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W5-7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F38A1-BBE6-4B8A-A1F6-47B71BD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Develop &amp;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FA192-4C1F-428B-BEF5-48737BF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96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Built features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and configured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the live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A9507-7C5D-4CBB-94E9-B61E2249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148D6-B25D-4B3C-AA9E-41149D79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W9-10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F9F25-300B-4623-AADE-A043B7DC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Maintain &amp; Evaluate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6AD3E-2B40-4846-B665-A31CCFA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Resolved issues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and used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usability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AE882-F487-4BC5-9C2D-1CDB5C6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5F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75C763-CEFF-4B93-992F-A624AAB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W11-12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C5F23-886F-4A74-A5D4-BC99535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33B"/>
                </a:solidFill>
              </a:defRPr>
            </a:pPr>
            <a:r>
              <a:rPr sz="1200" b="1">
                <a:solidFill>
                  <a:srgbClr val="16233B"/>
                </a:solidFill>
              </a:rPr>
              <a:t>Reflect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70C1B-7AFB-48AD-BA0E-F3DF407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Applied UCD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lessons and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project-management</a:t>
            </a:r>
          </a:p>
          <a:p xmlns:a="http://schemas.openxmlformats.org/drawingml/2006/main">
            <a:pPr algn="l">
              <a:defRPr sz="900" b="0">
                <a:solidFill>
                  <a:srgbClr val="40516E"/>
                </a:solidFill>
              </a:defRPr>
            </a:pPr>
            <a:r>
              <a:rPr sz="900" b="0">
                <a:solidFill>
                  <a:srgbClr val="40516E"/>
                </a:solidFill>
              </a:rPr>
              <a:t>review.</a:t>
            </a:r>
          </a:p>
        </p:txBody>
      </p:sp>
    </p:spTree>
    <p:extLst>
      <p:ext uri="{BB962C8B-B14F-4D97-AF65-F5344CB8AC3E}">
        <p14:creationId xmlns:p14="http://schemas.microsoft.com/office/powerpoint/2010/main" val="1610362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49095-0E4D-4EBD-B6C9-0C94DBADC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efca2cc074bf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A6173-FFAC-42D4-A4FB-36B7D2E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0AC3-36DC-454D-9D34-30BF3BE4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8BA46-431A-43B5-800B-31E6884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D30BC-15AE-4464-924A-C1CB0DD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4286-D917-44F0-956F-18F28E9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19050">
            <a:solidFill>
              <a:srgbClr val="1623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24FC0-50F9-443F-8FA8-21DABE2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33B"/>
                </a:solidFill>
              </a:defRPr>
            </a:pPr>
            <a:r>
              <a:rPr sz="3000" b="1">
                <a:solidFill>
                  <a:srgbClr val="16233B"/>
                </a:solidFill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59C67-C00F-4702-AFAB-E7C1DF7C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516E"/>
                </a:solidFill>
              </a:defRPr>
            </a:pPr>
            <a:r>
              <a:rPr sz="1425" b="0">
                <a:solidFill>
                  <a:srgbClr val="40516E"/>
                </a:solidFill>
              </a:rPr>
              <a:t>The final system demonstrates how user-centered implementation can make a digital library more useful and more understandable.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C2DAB-62B3-4870-B0B6-9807E87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8124D-D1B7-40FD-B260-81F7EB9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683A7-08B1-47DD-AEB1-6D82F61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F4D1A-2A42-4266-A201-CC74FDB8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96DD5-4D4D-4186-A902-7499C032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569A6-566A-4D9F-83C8-026C2B24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49879-566F-474F-B868-9405723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35A8C-F232-4929-BFBF-804906D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The AI Library App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successfully combined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library browsing, detailed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book information, saved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features, and AI-assisted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CBA83-5C40-4BD5-B9F8-63F899A8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D4658-1BCB-4A98-8D4F-0D99108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2EBDB-EF77-4C99-8984-AAD9D13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4EC22-1E09-435D-9C74-1AFE353B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4BB4B-A0D4-4FD6-BCC5-285A324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C742F-24F4-4F32-A572-13773901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74E3B-7277-4E9C-94C9-95CDC80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7DE81-B297-4B3F-9E61-8B8E3078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Usability-based improvements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made the system clearer,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more connected, and more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practical for real users.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62E90-4C27-43AF-A680-B3BC3C7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3A34B-6D6A-4930-AD55-0116304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017B7-694A-4816-997C-A0AD647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623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3F13C6-51E1-4021-A7C3-C2F4FB53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FD0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DEF859-4169-4D14-8839-06653DF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85E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E1A2-56E4-4D9B-98E8-657CE1C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AE6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1BD08-1FE9-40F0-8478-33E0F7A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89F"/>
                </a:solidFill>
              </a:defRPr>
            </a:pPr>
            <a:r>
              <a:rPr sz="975" b="1">
                <a:solidFill>
                  <a:srgbClr val="24489F"/>
                </a:solidFill>
              </a:rPr>
              <a:t>Future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E12EEC-3869-4B18-A2B4-83B4DDBC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Future development can focus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on stronger AI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recommendation quality,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PDF-based book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understanding, and further</a:t>
            </a:r>
          </a:p>
          <a:p xmlns:a="http://schemas.openxmlformats.org/drawingml/2006/main">
            <a:pPr algn="l">
              <a:defRPr sz="1050" b="0">
                <a:solidFill>
                  <a:srgbClr val="16233B"/>
                </a:solidFill>
              </a:defRPr>
            </a:pPr>
            <a:r>
              <a:rPr sz="1050" b="0">
                <a:solidFill>
                  <a:srgbClr val="16233B"/>
                </a:solidFill>
              </a:rPr>
              <a:t>usability refinement.</a:t>
            </a:r>
          </a:p>
        </p:txBody>
      </p:sp>
    </p:spTree>
    <p:extLst>
      <p:ext uri="{BB962C8B-B14F-4D97-AF65-F5344CB8AC3E}">
        <p14:creationId xmlns:p14="http://schemas.microsoft.com/office/powerpoint/2010/main" val="1094831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2026-04-27T18:32:39.0760000Z</dcterms:created>
  <dcterms:modified xsi:type="dcterms:W3CDTF">2026-04-27T18:32:39.0770000Z</dcterms:modified>
</coreProperties>
</file>